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0" r:id="rId8"/>
    <p:sldId id="262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3636"/>
    <a:srgbClr val="F29D61"/>
    <a:srgbClr val="FFE7CF"/>
    <a:srgbClr val="FEE7CF"/>
    <a:srgbClr val="F29E61"/>
    <a:srgbClr val="F19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E4C2D-CF70-41B5-980D-1DFD9CF43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761688"/>
            <a:ext cx="6815669" cy="1667312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accent2">
                    <a:lumMod val="75000"/>
                  </a:schemeClr>
                </a:solidFill>
                <a:latin typeface="+mj-ea"/>
              </a:rPr>
              <a:t>台中市特寵簡易查詢系統</a:t>
            </a:r>
            <a:br>
              <a:rPr lang="zh-TW" altLang="en-US" dirty="0"/>
            </a:br>
            <a:endParaRPr lang="zh-TW" altLang="en-US" sz="3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7912EB-AD79-44E5-A83A-297FE72CB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521" y="3523376"/>
            <a:ext cx="6694958" cy="1220130"/>
          </a:xfrm>
        </p:spPr>
        <p:txBody>
          <a:bodyPr>
            <a:normAutofit/>
          </a:bodyPr>
          <a:lstStyle/>
          <a:p>
            <a:r>
              <a:rPr lang="zh-TW" altLang="en-US" sz="2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小專成果發表 游育晨</a:t>
            </a:r>
          </a:p>
        </p:txBody>
      </p:sp>
    </p:spTree>
    <p:extLst>
      <p:ext uri="{BB962C8B-B14F-4D97-AF65-F5344CB8AC3E}">
        <p14:creationId xmlns:p14="http://schemas.microsoft.com/office/powerpoint/2010/main" val="132981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4752A4-8EDC-4C2D-969F-E90021D0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chemeClr val="accent2">
                    <a:lumMod val="75000"/>
                  </a:schemeClr>
                </a:solidFill>
                <a:latin typeface="+mj-ea"/>
              </a:rPr>
              <a:t>使用的語言、工具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D43CBD6-A552-4A90-ADDE-2F9E4044D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1034" y="2549158"/>
            <a:ext cx="2912770" cy="1819837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38BBC7E-D3F1-4B22-B34C-A06040AE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647" y="2835910"/>
            <a:ext cx="1496463" cy="149646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37464A2-A0DD-4705-B573-1CA2D79EE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145" y="2799290"/>
            <a:ext cx="1737484" cy="156970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E2FB0AF-C31A-4045-88DA-8F01B0E2E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0858" y="2549158"/>
            <a:ext cx="1819836" cy="181983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9E2EA4-9FFA-42DD-B190-FA8173A643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633" y="2489006"/>
            <a:ext cx="1879988" cy="187998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D0C80255-77BC-4F4F-A6FE-A70B21BED950}"/>
              </a:ext>
            </a:extLst>
          </p:cNvPr>
          <p:cNvSpPr txBox="1"/>
          <p:nvPr/>
        </p:nvSpPr>
        <p:spPr>
          <a:xfrm>
            <a:off x="6983816" y="2400147"/>
            <a:ext cx="1300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/>
              <a:t>GPT</a:t>
            </a:r>
            <a:endParaRPr lang="zh-TW" altLang="en-US" sz="2800" b="1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DB1FB15-2992-4492-8E68-BD196D64EA6A}"/>
              </a:ext>
            </a:extLst>
          </p:cNvPr>
          <p:cNvSpPr txBox="1"/>
          <p:nvPr/>
        </p:nvSpPr>
        <p:spPr>
          <a:xfrm>
            <a:off x="8791663" y="2400148"/>
            <a:ext cx="21693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+mj-ea"/>
                <a:ea typeface="+mj-ea"/>
              </a:rPr>
              <a:t>Visual Studio Code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362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45740-041D-49FA-BE6A-6AB927AAF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073170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chemeClr val="accent2">
                    <a:lumMod val="75000"/>
                  </a:schemeClr>
                </a:solidFill>
              </a:rPr>
              <a:t>製作時程</a:t>
            </a:r>
          </a:p>
        </p:txBody>
      </p:sp>
      <p:graphicFrame>
        <p:nvGraphicFramePr>
          <p:cNvPr id="9" name="內容版面配置區 8">
            <a:extLst>
              <a:ext uri="{FF2B5EF4-FFF2-40B4-BE49-F238E27FC236}">
                <a16:creationId xmlns:a16="http://schemas.microsoft.com/office/drawing/2014/main" id="{263AF30D-12D0-4B78-96AE-1B584757B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482732"/>
              </p:ext>
            </p:extLst>
          </p:nvPr>
        </p:nvGraphicFramePr>
        <p:xfrm>
          <a:off x="1191238" y="2634143"/>
          <a:ext cx="9764784" cy="32417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254928">
                  <a:extLst>
                    <a:ext uri="{9D8B030D-6E8A-4147-A177-3AD203B41FA5}">
                      <a16:colId xmlns:a16="http://schemas.microsoft.com/office/drawing/2014/main" val="3567466860"/>
                    </a:ext>
                  </a:extLst>
                </a:gridCol>
                <a:gridCol w="3254928">
                  <a:extLst>
                    <a:ext uri="{9D8B030D-6E8A-4147-A177-3AD203B41FA5}">
                      <a16:colId xmlns:a16="http://schemas.microsoft.com/office/drawing/2014/main" val="1137356065"/>
                    </a:ext>
                  </a:extLst>
                </a:gridCol>
                <a:gridCol w="3254928">
                  <a:extLst>
                    <a:ext uri="{9D8B030D-6E8A-4147-A177-3AD203B41FA5}">
                      <a16:colId xmlns:a16="http://schemas.microsoft.com/office/drawing/2014/main" val="4085237137"/>
                    </a:ext>
                  </a:extLst>
                </a:gridCol>
              </a:tblGrid>
              <a:tr h="1080575">
                <a:tc>
                  <a:txBody>
                    <a:bodyPr/>
                    <a:lstStyle/>
                    <a:p>
                      <a:r>
                        <a:rPr lang="en-US" altLang="zh-TW" dirty="0"/>
                        <a:t>7/16</a:t>
                      </a:r>
                    </a:p>
                    <a:p>
                      <a:pPr algn="ctr"/>
                      <a:r>
                        <a:rPr lang="zh-TW" altLang="en-US" sz="2000" dirty="0"/>
                        <a:t>專題發想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7/18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179473"/>
                  </a:ext>
                </a:extLst>
              </a:tr>
              <a:tr h="1080575">
                <a:tc>
                  <a:txBody>
                    <a:bodyPr/>
                    <a:lstStyle/>
                    <a:p>
                      <a:r>
                        <a:rPr lang="en-US" altLang="zh-TW" dirty="0"/>
                        <a:t>7/19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7/21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345070"/>
                  </a:ext>
                </a:extLst>
              </a:tr>
              <a:tr h="1080575">
                <a:tc>
                  <a:txBody>
                    <a:bodyPr/>
                    <a:lstStyle/>
                    <a:p>
                      <a:r>
                        <a:rPr lang="en-US" altLang="zh-TW" dirty="0"/>
                        <a:t>7/22</a:t>
                      </a:r>
                    </a:p>
                    <a:p>
                      <a:pPr algn="ctr"/>
                      <a:r>
                        <a:rPr lang="zh-TW" altLang="en-US" b="1" dirty="0"/>
                        <a:t>最後確認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7/23</a:t>
                      </a:r>
                    </a:p>
                    <a:p>
                      <a:pPr algn="ctr"/>
                      <a:r>
                        <a:rPr lang="zh-TW" altLang="en-US" b="1" dirty="0"/>
                        <a:t>簡報製作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7/24</a:t>
                      </a:r>
                    </a:p>
                    <a:p>
                      <a:pPr algn="ctr"/>
                      <a:r>
                        <a:rPr lang="zh-TW" altLang="en-US" b="1" dirty="0"/>
                        <a:t>專題發表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241293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19BD47DB-25F5-4EDF-A63B-E3FD7FFEE4DC}"/>
              </a:ext>
            </a:extLst>
          </p:cNvPr>
          <p:cNvSpPr txBox="1"/>
          <p:nvPr/>
        </p:nvSpPr>
        <p:spPr>
          <a:xfrm>
            <a:off x="4588778" y="3059668"/>
            <a:ext cx="6191075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專題製作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F08C93F-55E7-446B-8C89-5B3176F77209}"/>
              </a:ext>
            </a:extLst>
          </p:cNvPr>
          <p:cNvSpPr txBox="1"/>
          <p:nvPr/>
        </p:nvSpPr>
        <p:spPr>
          <a:xfrm>
            <a:off x="1295402" y="4069489"/>
            <a:ext cx="9484451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專題製作</a:t>
            </a:r>
          </a:p>
        </p:txBody>
      </p:sp>
    </p:spTree>
    <p:extLst>
      <p:ext uri="{BB962C8B-B14F-4D97-AF65-F5344CB8AC3E}">
        <p14:creationId xmlns:p14="http://schemas.microsoft.com/office/powerpoint/2010/main" val="2617557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25741-A5CD-4610-8436-D2B9A534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chemeClr val="accent2">
                    <a:lumMod val="75000"/>
                  </a:schemeClr>
                </a:solidFill>
              </a:rPr>
              <a:t>工具使用占比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10E43F-33EF-4E04-AC65-9A4AE8E7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1.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自己開發約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80%</a:t>
            </a:r>
          </a:p>
          <a:p>
            <a:pPr marL="0" indent="0" algn="ctr">
              <a:buNone/>
            </a:pP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2.chatgpt</a:t>
            </a:r>
            <a:r>
              <a:rPr lang="zh-TW" altLang="en-US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輔助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20%</a:t>
            </a:r>
          </a:p>
          <a:p>
            <a:pPr marL="0" indent="0" algn="ctr">
              <a:buNone/>
            </a:pPr>
            <a:endParaRPr lang="zh-TW" alt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03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562915-320D-4175-A119-94C243D8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chemeClr val="accent2"/>
                </a:solidFill>
              </a:rPr>
              <a:t>遇到的困難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84CA8E-4626-4BF5-B161-97F340ED3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難點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90C028-9C37-4B3B-8584-AFE36491C6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.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在開發途中因為不熟悉樣式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導致做不出自己喜歡的感覺</a:t>
            </a:r>
            <a:endParaRPr lang="en-US" altLang="zh-TW" sz="18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在導入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google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地圖連結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沒辦法正確指向醫院頁面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地址正確但辦法直接顯示店家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  <a:endParaRPr lang="zh-TW" altLang="en-US" sz="18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34211FB-8410-4085-800D-6ABFFACA0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解決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9E317BB-6E69-4E51-9CD0-FABEF68E6A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1.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網上查閱配色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學習其他網站如何配色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請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AI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提供網頁配色參考</a:t>
            </a:r>
            <a:endParaRPr lang="en-US" altLang="zh-TW" sz="18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2.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將動態 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URL </a:t>
            </a:r>
            <a:r>
              <a:rPr lang="zh-TW" altLang="en-US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組合由地址改寫放在醫院名稱上面轉跳</a:t>
            </a:r>
            <a:r>
              <a:rPr lang="en-US" altLang="zh-TW" sz="18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google map</a:t>
            </a:r>
            <a:endParaRPr lang="zh-TW" altLang="en-US" sz="18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344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5E7BF1-46DA-4DFD-8FEC-772F80F7CD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396" y="511176"/>
            <a:ext cx="10486239" cy="1032398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chemeClr val="accent2">
                    <a:lumMod val="75000"/>
                  </a:schemeClr>
                </a:solidFill>
              </a:rPr>
              <a:t>專題介紹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3D2EA1-71A8-475C-A081-B2C5D501E8A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9567" y="394284"/>
            <a:ext cx="10379978" cy="27935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u="sng" dirty="0"/>
          </a:p>
          <a:p>
            <a:pPr marL="0" indent="0">
              <a:buNone/>
            </a:pPr>
            <a:endParaRPr lang="en-US" altLang="zh-TW" u="sng" dirty="0"/>
          </a:p>
          <a:p>
            <a:pPr marL="0" indent="0">
              <a:buNone/>
            </a:pPr>
            <a:r>
              <a:rPr lang="zh-TW" altLang="en-US" sz="2000" b="1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專題目標：解決特寵醫療資源分散問題</a:t>
            </a:r>
            <a:r>
              <a:rPr lang="en-US" altLang="zh-TW" sz="2000" b="1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2000" b="1" dirty="0">
                <a:solidFill>
                  <a:srgbClr val="FF0000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整合現有特寵醫療資源、店家</a:t>
            </a:r>
            <a:endParaRPr lang="en-US" altLang="zh-TW" sz="2000" b="1" dirty="0">
              <a:solidFill>
                <a:srgbClr val="FF0000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現代人因少子化對於寵物的需求逐漸增高</a:t>
            </a:r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也比較常去養一些除了貓狗之外的動物</a:t>
            </a:r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例如兔子、鳥、爬蟲類、狐蒙、天竺鼠等動物</a:t>
            </a:r>
            <a:endParaRPr lang="en-US" altLang="zh-TW" sz="16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0" indent="0">
              <a:buNone/>
            </a:pP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但這些動物也是會生病的</a:t>
            </a:r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而且很多寵物醫院都不接特殊寵物</a:t>
            </a:r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像我自己就養了兩隻兔子</a:t>
            </a:r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目前其實沒有一個完整的平台去收納這些醫院</a:t>
            </a:r>
            <a:r>
              <a:rPr lang="en-US" altLang="zh-TW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,</a:t>
            </a:r>
            <a:r>
              <a:rPr lang="zh-TW" altLang="en-US" sz="16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所以才有了這次專題的想法</a:t>
            </a:r>
            <a:endParaRPr lang="en-US" altLang="zh-TW" sz="16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685D0DA-7054-4DF5-B399-5E2E8F35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24" y="3187817"/>
            <a:ext cx="4957893" cy="319832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3A905770-D937-4FA2-9826-B7BCE7B17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517" y="3187817"/>
            <a:ext cx="5313028" cy="319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C6A7D-8CB7-4F9D-BB9F-05924778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494330"/>
          </a:xfrm>
        </p:spPr>
        <p:txBody>
          <a:bodyPr>
            <a:noAutofit/>
          </a:bodyPr>
          <a:lstStyle/>
          <a:p>
            <a:r>
              <a:rPr lang="zh-TW" altLang="en-US" sz="2400" b="1" dirty="0">
                <a:solidFill>
                  <a:schemeClr val="accent2">
                    <a:lumMod val="75000"/>
                  </a:schemeClr>
                </a:solidFill>
              </a:rPr>
              <a:t>網頁展示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78D19DE-22F2-4674-819B-FA21436E6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793" y="1476463"/>
            <a:ext cx="9756397" cy="43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5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4F878-6CB1-4B8A-925A-90ECA874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D59BECF-08F2-41AF-A9C1-5872751F7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020" y="864165"/>
            <a:ext cx="10007578" cy="5011703"/>
          </a:xfrm>
          <a:prstGeom prst="rect">
            <a:avLst/>
          </a:prstGeom>
        </p:spPr>
      </p:pic>
      <p:sp>
        <p:nvSpPr>
          <p:cNvPr id="23" name="圖說文字: 折線 22">
            <a:extLst>
              <a:ext uri="{FF2B5EF4-FFF2-40B4-BE49-F238E27FC236}">
                <a16:creationId xmlns:a16="http://schemas.microsoft.com/office/drawing/2014/main" id="{50CFAECA-E885-4A3D-ABEB-A346BA6016B1}"/>
              </a:ext>
            </a:extLst>
          </p:cNvPr>
          <p:cNvSpPr/>
          <p:nvPr/>
        </p:nvSpPr>
        <p:spPr>
          <a:xfrm>
            <a:off x="2835479" y="1501629"/>
            <a:ext cx="1979802" cy="1303867"/>
          </a:xfrm>
          <a:prstGeom prst="borderCallout2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211758-265D-4FC7-B6BE-53D3F521E823}"/>
              </a:ext>
            </a:extLst>
          </p:cNvPr>
          <p:cNvSpPr/>
          <p:nvPr/>
        </p:nvSpPr>
        <p:spPr>
          <a:xfrm>
            <a:off x="889020" y="2958956"/>
            <a:ext cx="1854180" cy="91675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+mj-ea"/>
                <a:ea typeface="+mj-ea"/>
              </a:rPr>
              <a:t>左側控制面板</a:t>
            </a:r>
            <a:r>
              <a:rPr lang="en-US" altLang="zh-TW" sz="1400" b="1" dirty="0">
                <a:solidFill>
                  <a:schemeClr val="tx1"/>
                </a:solidFill>
                <a:latin typeface="+mj-ea"/>
                <a:ea typeface="+mj-ea"/>
              </a:rPr>
              <a:t>:</a:t>
            </a:r>
            <a:r>
              <a:rPr lang="zh-TW" altLang="en-US" sz="1400" b="1" dirty="0">
                <a:solidFill>
                  <a:schemeClr val="tx1"/>
                </a:solidFill>
                <a:latin typeface="+mj-ea"/>
                <a:ea typeface="+mj-ea"/>
              </a:rPr>
              <a:t>整合</a:t>
            </a:r>
            <a:endParaRPr lang="en-US" altLang="zh-TW" sz="1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zh-TW" altLang="en-US" sz="1400" b="1" dirty="0">
                <a:solidFill>
                  <a:schemeClr val="tx1"/>
                </a:solidFill>
                <a:latin typeface="+mj-ea"/>
                <a:ea typeface="+mj-ea"/>
              </a:rPr>
              <a:t>篩選器和浮動式視覺效果</a:t>
            </a:r>
            <a:r>
              <a:rPr lang="en-US" altLang="zh-TW" sz="1400" b="1" dirty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zh-TW" altLang="en-US" sz="1400" b="1" dirty="0">
                <a:solidFill>
                  <a:schemeClr val="tx1"/>
                </a:solidFill>
                <a:latin typeface="+mj-ea"/>
                <a:ea typeface="+mj-ea"/>
              </a:rPr>
              <a:t>引導使用者操作</a:t>
            </a:r>
          </a:p>
        </p:txBody>
      </p:sp>
      <p:sp>
        <p:nvSpPr>
          <p:cNvPr id="27" name="圖說文字: 直線 26">
            <a:extLst>
              <a:ext uri="{FF2B5EF4-FFF2-40B4-BE49-F238E27FC236}">
                <a16:creationId xmlns:a16="http://schemas.microsoft.com/office/drawing/2014/main" id="{08AE49F7-9018-47D5-B490-483E6A270D99}"/>
              </a:ext>
            </a:extLst>
          </p:cNvPr>
          <p:cNvSpPr/>
          <p:nvPr/>
        </p:nvSpPr>
        <p:spPr>
          <a:xfrm>
            <a:off x="2835479" y="2958956"/>
            <a:ext cx="1979802" cy="841257"/>
          </a:xfrm>
          <a:prstGeom prst="borderCallout1">
            <a:avLst>
              <a:gd name="adj1" fmla="val 104219"/>
              <a:gd name="adj2" fmla="val 46752"/>
              <a:gd name="adj3" fmla="val 161603"/>
              <a:gd name="adj4" fmla="val 5658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A87AE3-6A53-4B4A-9487-0930304D06EF}"/>
              </a:ext>
            </a:extLst>
          </p:cNvPr>
          <p:cNvSpPr/>
          <p:nvPr/>
        </p:nvSpPr>
        <p:spPr>
          <a:xfrm>
            <a:off x="2743199" y="4362275"/>
            <a:ext cx="2072081" cy="629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rgbClr val="C00000"/>
                </a:solidFill>
                <a:latin typeface="+mj-ea"/>
                <a:ea typeface="+mj-ea"/>
              </a:rPr>
              <a:t>視覺輪播圖</a:t>
            </a:r>
            <a:r>
              <a:rPr lang="en-US" altLang="zh-TW" sz="1200" b="1" dirty="0">
                <a:solidFill>
                  <a:srgbClr val="C00000"/>
                </a:solidFill>
                <a:latin typeface="+mj-ea"/>
                <a:ea typeface="+mj-ea"/>
              </a:rPr>
              <a:t>,</a:t>
            </a:r>
            <a:r>
              <a:rPr lang="zh-TW" altLang="en-US" sz="1200" b="1" dirty="0">
                <a:solidFill>
                  <a:srgbClr val="C00000"/>
                </a:solidFill>
                <a:latin typeface="+mj-ea"/>
                <a:ea typeface="+mj-ea"/>
              </a:rPr>
              <a:t>增加網頁觀賞性</a:t>
            </a:r>
          </a:p>
        </p:txBody>
      </p:sp>
      <p:sp>
        <p:nvSpPr>
          <p:cNvPr id="32" name="箭號: 向右 31">
            <a:extLst>
              <a:ext uri="{FF2B5EF4-FFF2-40B4-BE49-F238E27FC236}">
                <a16:creationId xmlns:a16="http://schemas.microsoft.com/office/drawing/2014/main" id="{1FA786C9-6644-4DFE-9E32-26C043778BB2}"/>
              </a:ext>
            </a:extLst>
          </p:cNvPr>
          <p:cNvSpPr/>
          <p:nvPr/>
        </p:nvSpPr>
        <p:spPr>
          <a:xfrm rot="2131076">
            <a:off x="8976502" y="3247081"/>
            <a:ext cx="466316" cy="223417"/>
          </a:xfrm>
          <a:prstGeom prst="rightArrow">
            <a:avLst/>
          </a:prstGeom>
          <a:solidFill>
            <a:srgbClr val="F19C6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8014AFA-07E7-41CF-B80C-886E33E75B3D}"/>
              </a:ext>
            </a:extLst>
          </p:cNvPr>
          <p:cNvSpPr/>
          <p:nvPr/>
        </p:nvSpPr>
        <p:spPr>
          <a:xfrm>
            <a:off x="9464333" y="3585169"/>
            <a:ext cx="2120863" cy="707764"/>
          </a:xfrm>
          <a:prstGeom prst="rect">
            <a:avLst/>
          </a:prstGeom>
          <a:noFill/>
          <a:ln>
            <a:solidFill>
              <a:srgbClr val="F29D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rgbClr val="F29E61"/>
                </a:solidFill>
                <a:latin typeface="+mj-ea"/>
                <a:ea typeface="+mj-ea"/>
              </a:rPr>
              <a:t>右側內容畫布</a:t>
            </a:r>
            <a:r>
              <a:rPr lang="en-US" altLang="zh-TW" sz="1400" b="1" dirty="0">
                <a:solidFill>
                  <a:srgbClr val="F29E61"/>
                </a:solidFill>
                <a:latin typeface="+mj-ea"/>
                <a:ea typeface="+mj-ea"/>
              </a:rPr>
              <a:t>:</a:t>
            </a:r>
            <a:r>
              <a:rPr lang="zh-TW" altLang="en-US" sz="1400" b="1" dirty="0">
                <a:solidFill>
                  <a:srgbClr val="F29E61"/>
                </a:solidFill>
                <a:latin typeface="+mj-ea"/>
                <a:ea typeface="+mj-ea"/>
              </a:rPr>
              <a:t>最大化顯示查詢結果</a:t>
            </a:r>
            <a:r>
              <a:rPr lang="en-US" altLang="zh-TW" sz="1400" b="1" dirty="0">
                <a:solidFill>
                  <a:srgbClr val="F29E61"/>
                </a:solidFill>
                <a:latin typeface="+mj-ea"/>
                <a:ea typeface="+mj-ea"/>
              </a:rPr>
              <a:t>,</a:t>
            </a:r>
            <a:r>
              <a:rPr lang="zh-TW" altLang="en-US" sz="1400" b="1" dirty="0">
                <a:solidFill>
                  <a:srgbClr val="F29E61"/>
                </a:solidFill>
                <a:latin typeface="+mj-ea"/>
                <a:ea typeface="+mj-ea"/>
              </a:rPr>
              <a:t>方便閱讀</a:t>
            </a:r>
            <a:r>
              <a:rPr lang="en-US" altLang="zh-TW" dirty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907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圓角 4">
            <a:extLst>
              <a:ext uri="{FF2B5EF4-FFF2-40B4-BE49-F238E27FC236}">
                <a16:creationId xmlns:a16="http://schemas.microsoft.com/office/drawing/2014/main" id="{71081C1D-D479-4CC8-B222-9F84FBDD3F24}"/>
              </a:ext>
            </a:extLst>
          </p:cNvPr>
          <p:cNvSpPr/>
          <p:nvPr/>
        </p:nvSpPr>
        <p:spPr>
          <a:xfrm>
            <a:off x="2082800" y="863600"/>
            <a:ext cx="7823200" cy="6985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accent2"/>
                </a:solidFill>
                <a:latin typeface="+mj-ea"/>
                <a:ea typeface="+mj-ea"/>
              </a:rPr>
              <a:t>搜索功能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A734D5A-B11B-46B6-80E4-B847880FF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98" y="1562100"/>
            <a:ext cx="5410202" cy="454795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C933E30-5C7D-44B2-B2C5-43A5A9A45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51" y="3327400"/>
            <a:ext cx="3816698" cy="1346200"/>
          </a:xfrm>
          <a:prstGeom prst="rect">
            <a:avLst/>
          </a:prstGeom>
        </p:spPr>
      </p:pic>
      <p:sp>
        <p:nvSpPr>
          <p:cNvPr id="12" name="箭號: 向下 11">
            <a:extLst>
              <a:ext uri="{FF2B5EF4-FFF2-40B4-BE49-F238E27FC236}">
                <a16:creationId xmlns:a16="http://schemas.microsoft.com/office/drawing/2014/main" id="{7AF64A77-5FDA-4F62-96E6-6E15174D143A}"/>
              </a:ext>
            </a:extLst>
          </p:cNvPr>
          <p:cNvSpPr/>
          <p:nvPr/>
        </p:nvSpPr>
        <p:spPr>
          <a:xfrm rot="1652314">
            <a:off x="2181150" y="2693614"/>
            <a:ext cx="282993" cy="61723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56072-156D-4845-A465-697EF7988587}"/>
              </a:ext>
            </a:extLst>
          </p:cNvPr>
          <p:cNvSpPr/>
          <p:nvPr/>
        </p:nvSpPr>
        <p:spPr>
          <a:xfrm>
            <a:off x="1282700" y="1905000"/>
            <a:ext cx="3200400" cy="6985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</a:rPr>
              <a:t>輸入對應關鍵字</a:t>
            </a:r>
            <a:r>
              <a:rPr lang="zh-TW" altLang="en-US" b="1" dirty="0">
                <a:solidFill>
                  <a:schemeClr val="tx1"/>
                </a:solidFill>
                <a:latin typeface="+mj-ea"/>
                <a:ea typeface="+mj-ea"/>
              </a:rPr>
              <a:t>右側跳出結果</a:t>
            </a:r>
            <a:endParaRPr lang="zh-TW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832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725A5D8D-A5B8-46BE-BC7B-149BFEA45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979" y="804464"/>
            <a:ext cx="9418042" cy="504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21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3791307-785A-4227-8DC1-34106F3AA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64" y="754798"/>
            <a:ext cx="9978472" cy="53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10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737</TotalTime>
  <Words>299</Words>
  <Application>Microsoft Office PowerPoint</Application>
  <PresentationFormat>寬螢幕</PresentationFormat>
  <Paragraphs>46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微軟正黑體 Light</vt:lpstr>
      <vt:lpstr>新細明體</vt:lpstr>
      <vt:lpstr>Arial</vt:lpstr>
      <vt:lpstr>Garamond</vt:lpstr>
      <vt:lpstr>有機</vt:lpstr>
      <vt:lpstr>台中市特寵簡易查詢系統 </vt:lpstr>
      <vt:lpstr>使用的語言、工具</vt:lpstr>
      <vt:lpstr>製作時程</vt:lpstr>
      <vt:lpstr>工具使用占比</vt:lpstr>
      <vt:lpstr>遇到的困難</vt:lpstr>
      <vt:lpstr>專題介紹</vt:lpstr>
      <vt:lpstr>網頁展示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台中市特寵簡易查詢系統 </dc:title>
  <dc:creator>User</dc:creator>
  <cp:lastModifiedBy>User</cp:lastModifiedBy>
  <cp:revision>24</cp:revision>
  <dcterms:created xsi:type="dcterms:W3CDTF">2026-07-21T01:51:36Z</dcterms:created>
  <dcterms:modified xsi:type="dcterms:W3CDTF">2026-07-24T02:37:06Z</dcterms:modified>
</cp:coreProperties>
</file>